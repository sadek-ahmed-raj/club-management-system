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70" r:id="rId9"/>
    <p:sldId id="271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12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11" Type="http://schemas.openxmlformats.org/officeDocument/2006/relationships/image" Target="../media/image14.png" /><Relationship Id="rId5" Type="http://schemas.openxmlformats.org/officeDocument/2006/relationships/image" Target="../media/image8.png" /><Relationship Id="rId10" Type="http://schemas.openxmlformats.org/officeDocument/2006/relationships/image" Target="../media/image13.png" /><Relationship Id="rId4" Type="http://schemas.openxmlformats.org/officeDocument/2006/relationships/image" Target="../media/image7.png" /><Relationship Id="rId9" Type="http://schemas.openxmlformats.org/officeDocument/2006/relationships/image" Target="../media/image12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 /><Relationship Id="rId3" Type="http://schemas.openxmlformats.org/officeDocument/2006/relationships/image" Target="../media/image15.png" /><Relationship Id="rId7" Type="http://schemas.openxmlformats.org/officeDocument/2006/relationships/image" Target="../media/image19.png" /><Relationship Id="rId12" Type="http://schemas.openxmlformats.org/officeDocument/2006/relationships/image" Target="../media/image24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8.png" /><Relationship Id="rId11" Type="http://schemas.openxmlformats.org/officeDocument/2006/relationships/image" Target="../media/image23.png" /><Relationship Id="rId5" Type="http://schemas.openxmlformats.org/officeDocument/2006/relationships/image" Target="../media/image17.png" /><Relationship Id="rId10" Type="http://schemas.openxmlformats.org/officeDocument/2006/relationships/image" Target="../media/image22.png" /><Relationship Id="rId4" Type="http://schemas.openxmlformats.org/officeDocument/2006/relationships/image" Target="../media/image16.png" /><Relationship Id="rId9" Type="http://schemas.openxmlformats.org/officeDocument/2006/relationships/image" Target="../media/image2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6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9.png" /><Relationship Id="rId4" Type="http://schemas.openxmlformats.org/officeDocument/2006/relationships/image" Target="../media/image28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 /><Relationship Id="rId13" Type="http://schemas.openxmlformats.org/officeDocument/2006/relationships/image" Target="../media/image39.png" /><Relationship Id="rId3" Type="http://schemas.openxmlformats.org/officeDocument/2006/relationships/image" Target="../media/image30.png" /><Relationship Id="rId7" Type="http://schemas.openxmlformats.org/officeDocument/2006/relationships/image" Target="../media/image9.png" /><Relationship Id="rId12" Type="http://schemas.openxmlformats.org/officeDocument/2006/relationships/image" Target="../media/image38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3.png" /><Relationship Id="rId11" Type="http://schemas.openxmlformats.org/officeDocument/2006/relationships/image" Target="../media/image37.png" /><Relationship Id="rId5" Type="http://schemas.openxmlformats.org/officeDocument/2006/relationships/image" Target="../media/image32.png" /><Relationship Id="rId15" Type="http://schemas.openxmlformats.org/officeDocument/2006/relationships/image" Target="../media/image27.png" /><Relationship Id="rId10" Type="http://schemas.openxmlformats.org/officeDocument/2006/relationships/image" Target="../media/image36.png" /><Relationship Id="rId4" Type="http://schemas.openxmlformats.org/officeDocument/2006/relationships/image" Target="../media/image31.png" /><Relationship Id="rId9" Type="http://schemas.openxmlformats.org/officeDocument/2006/relationships/image" Target="../media/image35.png" /><Relationship Id="rId14" Type="http://schemas.openxmlformats.org/officeDocument/2006/relationships/image" Target="../media/image40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.png" /><Relationship Id="rId5" Type="http://schemas.openxmlformats.org/officeDocument/2006/relationships/image" Target="../media/image27.png" /><Relationship Id="rId4" Type="http://schemas.openxmlformats.org/officeDocument/2006/relationships/image" Target="../media/image31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4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3866" y="537534"/>
            <a:ext cx="501015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Urbanist Medium"/>
              </a:rPr>
              <a:t>Object-Oriented Programming (OOP) </a:t>
            </a:r>
            <a:r>
              <a:rPr lang="en-US" sz="1800" b="0" i="0" u="none">
                <a:solidFill>
                  <a:srgbClr val="94A3B8"/>
                </a:solidFill>
                <a:latin typeface="Urbanist Medium"/>
              </a:rPr>
              <a:t>Presentation</a:t>
            </a:r>
            <a:endParaRPr sz="1800" b="0" i="0" u="none">
              <a:solidFill>
                <a:srgbClr val="94A3B8"/>
              </a:solidFill>
              <a:latin typeface="Urbanist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0330" y="1108138"/>
            <a:ext cx="10711338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Urbanist"/>
              </a:rPr>
              <a:t>University Club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7562" y="2115413"/>
            <a:ext cx="5476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Object-Oriented Analysis, UML Design, and Java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00175" y="2751683"/>
            <a:ext cx="9391650" cy="34575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987890"/>
              </p:ext>
            </p:extLst>
          </p:nvPr>
        </p:nvGraphicFramePr>
        <p:xfrm>
          <a:off x="1400176" y="2741396"/>
          <a:ext cx="9391649" cy="349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452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8BDF8"/>
                          </a:solidFill>
                          <a:latin typeface="Urbanist"/>
                        </a:rPr>
                        <a:t>Student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8BDF8"/>
                          </a:solidFill>
                          <a:latin typeface="Urbanist"/>
                        </a:rPr>
                        <a:t>Student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38BDF8"/>
                          </a:solidFill>
                          <a:latin typeface="Urbanist"/>
                        </a:rPr>
                        <a:t>Assigned Part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2"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Toukir Ahmed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251-15-216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Problem Definition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2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Md </a:t>
                      </a:r>
                      <a:r>
                        <a:rPr lang="en-US"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Sadhin</a:t>
                      </a:r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 </a:t>
                      </a:r>
                      <a:r>
                        <a:rPr lang="en-US"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Foraji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251-15-586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Class Identification, Attributes &amp; Methods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2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MD. </a:t>
                      </a:r>
                      <a:r>
                        <a:rPr lang="en-US"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Kaium</a:t>
                      </a:r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 Hossain Riyad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251-15-604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UML Class Diagram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62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Sadek Ahmed Raj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251-15-511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OOP Concepts &amp; Relationships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26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Md.Saif</a:t>
                      </a:r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 Uddin Mahmud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251-15-689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Java Coding Solution &amp; Conclusion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428750" y="3370808"/>
            <a:ext cx="3078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012" y="3370808"/>
            <a:ext cx="15329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7991" y="3370808"/>
            <a:ext cx="46852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28750" y="3932783"/>
            <a:ext cx="3078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012" y="3932783"/>
            <a:ext cx="15329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77991" y="3932783"/>
            <a:ext cx="46852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28750" y="4494758"/>
            <a:ext cx="3078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012" y="4494758"/>
            <a:ext cx="15329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7991" y="4494758"/>
            <a:ext cx="46852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28750" y="5056733"/>
            <a:ext cx="3078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012" y="5056733"/>
            <a:ext cx="15329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7991" y="5056733"/>
            <a:ext cx="46852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28750" y="5618708"/>
            <a:ext cx="30782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012" y="5618708"/>
            <a:ext cx="15329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7991" y="5618708"/>
            <a:ext cx="468525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DC01F9-BBE7-4AFF-F390-3C9F4F3FAC35}"/>
              </a:ext>
            </a:extLst>
          </p:cNvPr>
          <p:cNvSpPr txBox="1"/>
          <p:nvPr/>
        </p:nvSpPr>
        <p:spPr>
          <a:xfrm>
            <a:off x="700088" y="287940"/>
            <a:ext cx="215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>
                <a:solidFill>
                  <a:srgbClr val="38BDF8"/>
                </a:solidFill>
              </a:rPr>
              <a:t>Group</a:t>
            </a:r>
            <a:r>
              <a:rPr lang="en-US" i="1" u="sng">
                <a:solidFill>
                  <a:srgbClr val="38BDF8"/>
                </a:solidFill>
              </a:rPr>
              <a:t>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04950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43" y="5657384"/>
            <a:ext cx="3933825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Problem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1504950"/>
            <a:ext cx="4857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Universities have multiple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clubs, members, and events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to manage and track efficiently.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403871"/>
            <a:ext cx="4857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Our system streamlines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student registrations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club details, and event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302793"/>
            <a:ext cx="4857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Urbanist"/>
              </a:rPr>
              <a:t>Why this is suitable for OOP: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Real-world objects like Student and Club have clear attributes and distinct behaviors.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536876"/>
            <a:ext cx="4857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The system accurately records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join and leave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activities for each specific club.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24000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22921"/>
            <a:ext cx="1047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21843"/>
            <a:ext cx="1047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55926"/>
            <a:ext cx="104775" cy="180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BA28D1-4028-8394-B037-1D20E3E8B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504950"/>
            <a:ext cx="5248274" cy="4286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4950"/>
            <a:ext cx="3555950" cy="23410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504950"/>
            <a:ext cx="3555950" cy="23410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504950"/>
            <a:ext cx="3555950" cy="2341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How to Solve Real-World Problems Using OOP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75260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2466975"/>
            <a:ext cx="321368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1. Object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867025"/>
            <a:ext cx="3060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Analyze the real-world scenario to extract distinct entities like Students, Clubs, and Events.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175260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5600" y="2466975"/>
            <a:ext cx="321368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2. UML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600" y="2867025"/>
            <a:ext cx="3060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Design a visual blueprint mapping out attributes, methods, and structural connections.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1752600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12050" y="2466975"/>
            <a:ext cx="321368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Urbanist"/>
              </a:rPr>
              <a:t>3. Java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2050" y="2867025"/>
            <a:ext cx="3060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Urbanist"/>
              </a:rPr>
              <a:t>Translate the blueprint into robust code using encapsulation, inheritance, and polymorphism.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87" y="1914525"/>
            <a:ext cx="1238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0387" y="1914525"/>
            <a:ext cx="1619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6838" y="1914525"/>
            <a:ext cx="161925" cy="2476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193F87D3-6ED0-00D0-D541-8B6F200B85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743" y="5657384"/>
            <a:ext cx="39338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4950"/>
            <a:ext cx="3492549" cy="3467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504950"/>
            <a:ext cx="3492549" cy="3467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504950"/>
            <a:ext cx="3492549" cy="3467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Class Identification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895475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895600"/>
            <a:ext cx="30470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3623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Acts as the central entity. It stores the c</a:t>
            </a:r>
            <a:r>
              <a:rPr lang="en-US" sz="1500" b="0" i="0" u="none">
                <a:solidFill>
                  <a:srgbClr val="CBD5E1"/>
                </a:solidFill>
                <a:latin typeface="Urbanist"/>
              </a:rPr>
              <a:t>lub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name, allocated budget, and maintains the list of enrolled members.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189547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5074" y="2895600"/>
            <a:ext cx="30470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3623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Represents the university user interacting with the system. It tracks the student's details and the clubs they have joined.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1895475"/>
            <a:ext cx="762000" cy="76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3374" y="2895600"/>
            <a:ext cx="30470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374" y="33623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Manages extracurricular event details including the date, venue, and the specific club hosting the activity.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085975"/>
            <a:ext cx="47625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9387" y="2085975"/>
            <a:ext cx="333375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7686" y="2085975"/>
            <a:ext cx="333375" cy="3810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0E099EF4-9894-5921-7E4E-D654EC5E2A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6314478"/>
            <a:ext cx="41719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4950"/>
            <a:ext cx="11049000" cy="4735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Attributes and 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886876"/>
              </p:ext>
            </p:extLst>
          </p:nvPr>
        </p:nvGraphicFramePr>
        <p:xfrm>
          <a:off x="576072" y="1504950"/>
          <a:ext cx="11036808" cy="47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1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Urbanist"/>
                        </a:rPr>
                        <a:t>Class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Urbanist"/>
                        </a:rPr>
                        <a:t>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Urbanist"/>
                        </a:rPr>
                        <a:t>Methods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8BDF8"/>
                          </a:solidFill>
                          <a:latin typeface="Urbanist"/>
                        </a:rPr>
                        <a:t>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Club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clubId, name, budget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addMember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(), </a:t>
                      </a:r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hostEvent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Manages club information and member lists.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Student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studentId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, name, email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joinClub(), registerEvent()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Represents university user and their actions.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Event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eventId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, title, 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addParticipant(), displayDetails()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Handles event scheduling and participation.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33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Executive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designation, accessLevel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approveBudget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(), </a:t>
                      </a:r>
                      <a:r>
                        <a:rPr sz="1500" b="0" i="0" u="none" err="1">
                          <a:solidFill>
                            <a:srgbClr val="CBD5E1"/>
                          </a:solidFill>
                          <a:latin typeface="Urbanist"/>
                        </a:rPr>
                        <a:t>createEvent</a:t>
                      </a:r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Provides administrative controls for leaders.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1025" y="2225873"/>
            <a:ext cx="13049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85950" y="2225873"/>
            <a:ext cx="24815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7510" y="2225873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00491" y="2225873"/>
            <a:ext cx="4110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225998"/>
            <a:ext cx="13049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85950" y="3225998"/>
            <a:ext cx="24815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7510" y="3225998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00491" y="3225998"/>
            <a:ext cx="4110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226123"/>
            <a:ext cx="13049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85950" y="4226123"/>
            <a:ext cx="24815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67510" y="4226123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00491" y="4226123"/>
            <a:ext cx="4110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226248"/>
            <a:ext cx="13049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85950" y="5226248"/>
            <a:ext cx="24815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67510" y="5226248"/>
            <a:ext cx="31329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00491" y="5226248"/>
            <a:ext cx="4110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B0B367BF-7223-CD80-EC34-856D547F0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14478"/>
            <a:ext cx="41719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300662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System UML Class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6" y="2247900"/>
            <a:ext cx="4619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Visualizes the overall object-oriented architecture of the University Club Management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3995748"/>
            <a:ext cx="46196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Maps core entities: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User (Abstract)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Admin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Student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President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Club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Membership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Event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, and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Notice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875" y="2247899"/>
            <a:ext cx="4619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Defines precise attributes, constructor methods, and structural access modifiers.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3170" y="3995748"/>
            <a:ext cx="4619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Clearly outlines relationships using Inheritance, Composition, and Association notations.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950"/>
            <a:ext cx="1047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1937"/>
            <a:ext cx="1047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266950"/>
            <a:ext cx="1047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18728"/>
            <a:ext cx="104775" cy="18097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8C880F-7BDF-E5DC-B858-B5616DAE80C3}"/>
              </a:ext>
            </a:extLst>
          </p:cNvPr>
          <p:cNvSpPr/>
          <p:nvPr/>
        </p:nvSpPr>
        <p:spPr>
          <a:xfrm>
            <a:off x="981075" y="2047873"/>
            <a:ext cx="4676776" cy="117043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A699A5-D272-41F1-1EE8-DBDE4DCF3D66}"/>
              </a:ext>
            </a:extLst>
          </p:cNvPr>
          <p:cNvSpPr/>
          <p:nvPr/>
        </p:nvSpPr>
        <p:spPr>
          <a:xfrm>
            <a:off x="6924675" y="3830798"/>
            <a:ext cx="4676776" cy="117043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F1CC18C-A3B1-A205-DC8B-C396AD9FA25C}"/>
              </a:ext>
            </a:extLst>
          </p:cNvPr>
          <p:cNvSpPr/>
          <p:nvPr/>
        </p:nvSpPr>
        <p:spPr>
          <a:xfrm>
            <a:off x="1000125" y="3830798"/>
            <a:ext cx="4676776" cy="117043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8EFCF3-47D0-E764-C9CD-24294A87BF2C}"/>
              </a:ext>
            </a:extLst>
          </p:cNvPr>
          <p:cNvSpPr/>
          <p:nvPr/>
        </p:nvSpPr>
        <p:spPr>
          <a:xfrm>
            <a:off x="6924675" y="2047873"/>
            <a:ext cx="4676776" cy="1170432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E75DD9E6-0601-FE93-812E-F2EAF879F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67400"/>
            <a:ext cx="48387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6057900"/>
            <a:ext cx="41910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6172200"/>
            <a:ext cx="142875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DDF793-7997-03DE-DB2C-7192AC178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6360"/>
            <a:ext cx="12192000" cy="677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FD0AF-E09B-51FA-0BB2-094FE348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C126DB0-3C26-A2AE-02D4-D24B22F0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4F97F41-932B-39AB-2F7D-5927F75E7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83" y="1177489"/>
            <a:ext cx="5381625" cy="2177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57DC8F6-EFE3-DF6D-10F3-3FE9C6AA5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542" y="1176867"/>
            <a:ext cx="5381625" cy="2177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79DBB3B-1697-0E16-9497-3AAE5B1DD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92888"/>
            <a:ext cx="5381625" cy="2177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4AB6E3C-CC05-2071-5A79-FA14D9152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542" y="3692888"/>
            <a:ext cx="5381625" cy="2177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84B4BB-3B7A-7E81-0EB6-8A9E68D4976C}"/>
              </a:ext>
            </a:extLst>
          </p:cNvPr>
          <p:cNvSpPr txBox="1"/>
          <p:nvPr/>
        </p:nvSpPr>
        <p:spPr>
          <a:xfrm>
            <a:off x="571500" y="402167"/>
            <a:ext cx="1079711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F8FAFC"/>
                </a:solidFill>
                <a:latin typeface="Urbanist"/>
              </a:rPr>
              <a:t>OOP Concepts Used</a:t>
            </a:r>
            <a:endParaRPr lang="en-US" sz="3200" b="1" i="0" u="none">
              <a:solidFill>
                <a:srgbClr val="F8FAFC"/>
              </a:solidFill>
              <a:latin typeface="Urbanist"/>
            </a:endParaRP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184AADE6-00F7-148B-0969-C7FF9A261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752600"/>
            <a:ext cx="571500" cy="571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AC9C65-1F8B-2CCD-FE0C-E5FFAE217F69}"/>
              </a:ext>
            </a:extLst>
          </p:cNvPr>
          <p:cNvSpPr txBox="1"/>
          <p:nvPr/>
        </p:nvSpPr>
        <p:spPr>
          <a:xfrm>
            <a:off x="1658968" y="1443504"/>
            <a:ext cx="5130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Urbanist"/>
              </a:rPr>
              <a:t>Encapsulation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4E761486-0A49-831E-3E0B-9911A103A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1752600"/>
            <a:ext cx="571500" cy="571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A52E57-A81F-50E6-8629-27086D1F63A6}"/>
              </a:ext>
            </a:extLst>
          </p:cNvPr>
          <p:cNvSpPr txBox="1"/>
          <p:nvPr/>
        </p:nvSpPr>
        <p:spPr>
          <a:xfrm>
            <a:off x="7354358" y="1472142"/>
            <a:ext cx="5130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Urbanist"/>
              </a:rPr>
              <a:t>Abstraction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75982-DECF-F2D7-1D55-FEE454775CAF}"/>
              </a:ext>
            </a:extLst>
          </p:cNvPr>
          <p:cNvSpPr txBox="1"/>
          <p:nvPr/>
        </p:nvSpPr>
        <p:spPr>
          <a:xfrm>
            <a:off x="7343775" y="1891242"/>
            <a:ext cx="4018492" cy="1642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Hides internal implementation.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Shows only required functionality.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Student applies for membership, and </a:t>
            </a:r>
            <a:r>
              <a:rPr lang="en-US" b="0" i="0" u="non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the 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system processes it internally</a:t>
            </a:r>
            <a:r>
              <a:rPr lang="en-US" b="0" i="0" u="none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endParaRPr lang="en-US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algn="l">
              <a:lnSpc>
                <a:spcPts val="2160"/>
              </a:lnSpc>
            </a:pPr>
            <a:endParaRPr sz="135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E204DC51-9417-8B82-998B-B56A77E162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215705"/>
            <a:ext cx="571500" cy="571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7803AD-F63C-C114-02AA-80503890D9F9}"/>
              </a:ext>
            </a:extLst>
          </p:cNvPr>
          <p:cNvSpPr txBox="1"/>
          <p:nvPr/>
        </p:nvSpPr>
        <p:spPr>
          <a:xfrm>
            <a:off x="1644650" y="3956414"/>
            <a:ext cx="407230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Urbanist"/>
              </a:rPr>
              <a:t>Inheritance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C4172-D830-6EF3-3D2B-3A074A2E2532}"/>
              </a:ext>
            </a:extLst>
          </p:cNvPr>
          <p:cNvSpPr txBox="1"/>
          <p:nvPr/>
        </p:nvSpPr>
        <p:spPr>
          <a:xfrm>
            <a:off x="1644650" y="4364931"/>
            <a:ext cx="4124325" cy="136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Reuses properties and methods. 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Avoids code duplication. </a:t>
            </a:r>
          </a:p>
          <a:p>
            <a:pPr marL="285750" indent="-285750">
              <a:buFont typeface="Arial,Sans-Serif"/>
              <a:buChar char="•"/>
            </a:pPr>
            <a:r>
              <a:rPr lang="en-US" b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Super Admin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Club President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, and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Student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inherit </a:t>
            </a:r>
            <a:r>
              <a:rPr lang="en-US" b="0" i="0" u="none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from the </a:t>
            </a:r>
            <a:r>
              <a:rPr lang="en-US" b="1" i="0" u="none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User</a:t>
            </a:r>
            <a:r>
              <a:rPr lang="en-US" b="0" i="0" u="none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class.</a:t>
            </a:r>
            <a:endParaRPr lang="en-US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ts val="2160"/>
              </a:lnSpc>
            </a:pPr>
            <a:endParaRPr sz="135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15304563-264A-559A-0740-71F65413FD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4215705"/>
            <a:ext cx="571500" cy="571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18FD66-4742-0B22-5D48-647D3E8BFB58}"/>
              </a:ext>
            </a:extLst>
          </p:cNvPr>
          <p:cNvSpPr txBox="1"/>
          <p:nvPr/>
        </p:nvSpPr>
        <p:spPr>
          <a:xfrm>
            <a:off x="7354358" y="3945830"/>
            <a:ext cx="513064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Urbanist"/>
              </a:rPr>
              <a:t>Polymorphism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0A2BF3-88B9-F19E-ED77-1D39517EF363}"/>
              </a:ext>
            </a:extLst>
          </p:cNvPr>
          <p:cNvSpPr txBox="1"/>
          <p:nvPr/>
        </p:nvSpPr>
        <p:spPr>
          <a:xfrm>
            <a:off x="7354358" y="4354346"/>
            <a:ext cx="3309410" cy="1642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Same method.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Different behavior. </a:t>
            </a:r>
            <a:endParaRPr lang="en-US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Login ( )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works differently for each user role.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ts val="2160"/>
              </a:lnSpc>
            </a:pPr>
            <a:endParaRPr sz="135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44A1E323-A4AF-5C5E-71B0-2151773B3C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1895475"/>
            <a:ext cx="285750" cy="2857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F21E7BBA-5D53-9A9B-BEE0-6248CD2768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1895475"/>
            <a:ext cx="361950" cy="285750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B630E678-2064-4721-6D8F-1D5AF8DD9D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975" y="4358580"/>
            <a:ext cx="323850" cy="2857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7665104F-F054-805A-ED34-E3344B988D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435858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B9C95B1F-79EF-7FEF-36C4-5AEE1021E8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3522" y="6160989"/>
            <a:ext cx="4191000" cy="419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C6F41F6-1C64-D80D-B5D4-C6F00630577D}"/>
              </a:ext>
            </a:extLst>
          </p:cNvPr>
          <p:cNvSpPr txBox="1"/>
          <p:nvPr/>
        </p:nvSpPr>
        <p:spPr>
          <a:xfrm>
            <a:off x="1640416" y="1894417"/>
            <a:ext cx="38946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Protects data by keeping it privates</a:t>
            </a:r>
            <a:r>
              <a:rPr lang="en-US" sz="1800" b="0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 </a:t>
            </a:r>
            <a:endParaRPr lang="en-US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Accessed through public methods</a:t>
            </a:r>
            <a:r>
              <a:rPr lang="en-US" sz="1800" b="0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 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Uses getter </a:t>
            </a:r>
            <a:r>
              <a:rPr lang="en-US" sz="1800" b="0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and 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setter methods</a:t>
            </a:r>
            <a:r>
              <a:rPr lang="en-US" sz="1800" b="0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r>
              <a:rPr lang="en-US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endParaRPr lang="en-US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Student Info, Membership fee</a:t>
            </a:r>
            <a:endParaRPr lang="en-US" sz="1800" b="0" i="0" dirty="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420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9A05C-8F51-049D-11CA-37C71AD0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3CD74E9-A0BA-E743-A832-19EF7528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116D008-4D6B-BB51-9BB0-F947B02B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86" y="1221102"/>
            <a:ext cx="5381625" cy="21773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00BA9CB-5F4E-53E8-87B9-F878C1A5E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975" y="3633982"/>
            <a:ext cx="5433111" cy="21773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11528A-ED04-36A9-80EE-0BEB5FEF6B89}"/>
              </a:ext>
            </a:extLst>
          </p:cNvPr>
          <p:cNvSpPr txBox="1"/>
          <p:nvPr/>
        </p:nvSpPr>
        <p:spPr>
          <a:xfrm>
            <a:off x="571500" y="402167"/>
            <a:ext cx="1079711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u="none">
                <a:solidFill>
                  <a:srgbClr val="F8FAFC"/>
                </a:solidFill>
                <a:latin typeface="Urbanist"/>
              </a:rPr>
              <a:t>OOP </a:t>
            </a:r>
            <a:r>
              <a:rPr lang="en-US" sz="3200" b="1">
                <a:solidFill>
                  <a:srgbClr val="F8FAFC"/>
                </a:solidFill>
                <a:latin typeface="Urbanist"/>
              </a:rPr>
              <a:t>Relationships Used</a:t>
            </a:r>
            <a:endParaRPr lang="en-US" sz="3200" b="1" i="0" u="none">
              <a:solidFill>
                <a:srgbClr val="F8FAFC"/>
              </a:solidFill>
              <a:latin typeface="Urbanist"/>
            </a:endParaRP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B26113DC-BA24-2CA8-68D7-78BEB7BAD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22" y="6160989"/>
            <a:ext cx="4191000" cy="4191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28DF0E8-14F3-4748-C6DB-1193850228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0" t="-3077" r="-1250" b="3590"/>
          <a:stretch>
            <a:fillRect/>
          </a:stretch>
        </p:blipFill>
        <p:spPr>
          <a:xfrm>
            <a:off x="565509" y="3510027"/>
            <a:ext cx="5381625" cy="23000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64A2B6-A4B4-E850-A9F0-A7650F51B89E}"/>
              </a:ext>
            </a:extLst>
          </p:cNvPr>
          <p:cNvSpPr txBox="1"/>
          <p:nvPr/>
        </p:nvSpPr>
        <p:spPr>
          <a:xfrm>
            <a:off x="3447777" y="1265053"/>
            <a:ext cx="5591733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🔗 Association | 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</a:rPr>
              <a:t>Has-A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Relationship </a:t>
            </a:r>
            <a:endParaRPr lang="en-US" sz="2000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between classes</a:t>
            </a:r>
          </a:p>
          <a:p>
            <a:endParaRPr lang="en-US" sz="20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US" sz="2000">
              <a:solidFill>
                <a:srgbClr val="F2F2F2"/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594930-A3C2-60BB-4599-167A971D3BA5}"/>
              </a:ext>
            </a:extLst>
          </p:cNvPr>
          <p:cNvSpPr txBox="1"/>
          <p:nvPr/>
        </p:nvSpPr>
        <p:spPr>
          <a:xfrm>
            <a:off x="678712" y="4221891"/>
            <a:ext cx="3989294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One class contains another class. 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Both can exist independently.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Club → Event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 club organizes multiple events. </a:t>
            </a:r>
            <a:endParaRPr lang="en-US">
              <a:ea typeface="Calibri"/>
              <a:cs typeface="Calibri"/>
            </a:endParaRPr>
          </a:p>
          <a:p>
            <a:endParaRPr lang="en-US" sz="20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8B241D-34D7-6D2B-1F97-07FCBB712E04}"/>
              </a:ext>
            </a:extLst>
          </p:cNvPr>
          <p:cNvSpPr txBox="1"/>
          <p:nvPr/>
        </p:nvSpPr>
        <p:spPr>
          <a:xfrm>
            <a:off x="835594" y="3650392"/>
            <a:ext cx="581585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7030A0"/>
                </a:solidFill>
                <a:latin typeface="Calibri"/>
              </a:rPr>
              <a:t>🔗</a:t>
            </a:r>
            <a:r>
              <a:rPr lang="en-US" sz="2400" b="1" i="0" u="none" strike="noStrike" baseline="0" dirty="0">
                <a:solidFill>
                  <a:schemeClr val="accent5">
                    <a:lumMod val="76000"/>
                  </a:schemeClr>
                </a:solidFill>
                <a:latin typeface="Calibri"/>
              </a:rPr>
              <a:t> </a:t>
            </a:r>
            <a:r>
              <a:rPr lang="en-US" sz="2400" b="1">
                <a:solidFill>
                  <a:schemeClr val="accent6"/>
                </a:solidFill>
                <a:latin typeface="Calibri"/>
              </a:rPr>
              <a:t>Aggregation |</a:t>
            </a:r>
            <a:r>
              <a:rPr lang="en-US" sz="2400" b="1" dirty="0">
                <a:solidFill>
                  <a:srgbClr val="7030A0"/>
                </a:solidFill>
                <a:latin typeface="Calibri"/>
              </a:rPr>
              <a:t> </a:t>
            </a: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Calibri"/>
              </a:rPr>
              <a:t>Week</a:t>
            </a:r>
            <a:r>
              <a:rPr lang="en-US" sz="2400" b="1" dirty="0">
                <a:solidFill>
                  <a:srgbClr val="7030A0"/>
                </a:solidFill>
                <a:latin typeface="Calibri"/>
              </a:rPr>
              <a:t> 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Calibri"/>
              </a:rPr>
              <a:t>Has-A</a:t>
            </a:r>
            <a:endParaRPr lang="en-US" sz="20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15254A-120A-57DA-EADF-191E35C6E1B1}"/>
              </a:ext>
            </a:extLst>
          </p:cNvPr>
          <p:cNvSpPr txBox="1"/>
          <p:nvPr/>
        </p:nvSpPr>
        <p:spPr>
          <a:xfrm>
            <a:off x="6638728" y="3707027"/>
            <a:ext cx="544605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92D050"/>
                </a:solidFill>
              </a:rPr>
              <a:t>🔗 Composition |</a:t>
            </a:r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 Strong 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Has-A </a:t>
            </a:r>
            <a:endParaRPr lang="en-US" sz="20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F61A2-AC60-CAD4-3DEC-8C82F5551C6C}"/>
              </a:ext>
            </a:extLst>
          </p:cNvPr>
          <p:cNvSpPr txBox="1"/>
          <p:nvPr/>
        </p:nvSpPr>
        <p:spPr>
          <a:xfrm>
            <a:off x="6246522" y="4356968"/>
            <a:ext cx="609600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Child object depends on the parent object. 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Club </a:t>
            </a:r>
            <a:r>
              <a:rPr lang="en-US" sz="20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→ Notice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If the </a:t>
            </a:r>
            <a:r>
              <a:rPr lang="en-US" sz="2000" b="0" i="0" u="none" strike="noStrike" baseline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club</a:t>
            </a:r>
            <a:r>
              <a:rPr lang="en-US" sz="20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is deleted, its notices are also deleted.</a:t>
            </a:r>
            <a:endParaRPr lang="en-US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marL="285750" lvl="0" indent="-285750" algn="l">
              <a:buFont typeface="Arial"/>
              <a:buChar char="•"/>
            </a:pPr>
            <a:endParaRPr lang="en-US" sz="20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7FEDBF-A17F-DB79-3ABD-F4D84802E894}"/>
              </a:ext>
            </a:extLst>
          </p:cNvPr>
          <p:cNvSpPr txBox="1"/>
          <p:nvPr/>
        </p:nvSpPr>
        <p:spPr>
          <a:xfrm>
            <a:off x="3259093" y="2075818"/>
            <a:ext cx="573741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"/>
              <a:buChar char="•"/>
            </a:pPr>
            <a:r>
              <a:rPr lang="en-US" sz="2000">
                <a:solidFill>
                  <a:srgbClr val="F2F2F2"/>
                </a:solidFill>
              </a:rPr>
              <a:t>Two independent classes interact with each other. </a:t>
            </a:r>
          </a:p>
          <a:p>
            <a:pPr marL="285750" indent="-285750">
              <a:buFont typeface=""/>
              <a:buChar char="•"/>
            </a:pPr>
            <a:r>
              <a:rPr lang="en-US" sz="2000" b="1">
                <a:solidFill>
                  <a:srgbClr val="F2F2F2"/>
                </a:solidFill>
              </a:rPr>
              <a:t>Student ↔ Club</a:t>
            </a:r>
            <a:r>
              <a:rPr lang="en-US" sz="2000">
                <a:solidFill>
                  <a:srgbClr val="F2F2F2"/>
                </a:solidFill>
              </a:rPr>
              <a:t> </a:t>
            </a:r>
            <a:endParaRPr lang="en-US" sz="2000">
              <a:solidFill>
                <a:srgbClr val="F2F2F2"/>
              </a:solidFill>
              <a:ea typeface="Calibri"/>
              <a:cs typeface="Calibri"/>
            </a:endParaRPr>
          </a:p>
          <a:p>
            <a:pPr marL="285750" indent="-285750">
              <a:buFont typeface=""/>
              <a:buChar char="•"/>
            </a:pPr>
            <a:r>
              <a:rPr lang="en-US" sz="2000">
                <a:solidFill>
                  <a:srgbClr val="F2F2F2"/>
                </a:solidFill>
              </a:rPr>
              <a:t>A student can join multiple clubs.</a:t>
            </a:r>
            <a:endParaRPr lang="en-US" sz="2000">
              <a:solidFill>
                <a:srgbClr val="F2F2F2"/>
              </a:solidFill>
              <a:ea typeface="Calibri"/>
              <a:cs typeface="Calibri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>
              <a:solidFill>
                <a:srgbClr val="F2F2F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260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Java Coding Solution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1504950"/>
            <a:ext cx="3933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Urbanist"/>
              </a:rPr>
              <a:t>Encapsulation: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The studentId and name variables are marked as </a:t>
            </a:r>
            <a:r>
              <a:rPr sz="1650" b="0" i="0" u="none">
                <a:solidFill>
                  <a:srgbClr val="F43F5E"/>
                </a:solidFill>
                <a:latin typeface="Urbanist"/>
              </a:rPr>
              <a:t>private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403871"/>
            <a:ext cx="3933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The </a:t>
            </a:r>
            <a:r>
              <a:rPr sz="1650" b="1" i="0" u="none">
                <a:solidFill>
                  <a:srgbClr val="F8FAFC"/>
                </a:solidFill>
                <a:latin typeface="Urbanist"/>
              </a:rPr>
              <a:t>Constructor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initializes the Student object safely upon creation.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02793"/>
            <a:ext cx="3933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The </a:t>
            </a:r>
            <a:r>
              <a:rPr sz="1650" b="0" i="0" u="none">
                <a:solidFill>
                  <a:srgbClr val="38BDF8"/>
                </a:solidFill>
                <a:latin typeface="Urbanist"/>
              </a:rPr>
              <a:t>joinClub()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method enforces business logic securely.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475" y="1809750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6975" y="18097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5975" y="20383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20383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5975" y="22669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22669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5975" y="2724150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7F848E"/>
                </a:solidFill>
                <a:latin typeface="Fira Code"/>
              </a:rPr>
              <a:t>// Constructor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5975" y="29527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9527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725" y="29527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475" y="29527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475" y="3181350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6475" y="3409950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5975" y="4095750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public void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8975" y="4095750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joinClub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6225" y="4095750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475" y="43243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4225" y="43243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println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2975" y="4324350"/>
            <a:ext cx="95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8C379"/>
                </a:solidFill>
                <a:latin typeface="Fira Code"/>
              </a:rPr>
              <a:t>" joined 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475" y="43243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getName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0477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2921"/>
            <a:ext cx="10477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1843"/>
            <a:ext cx="104775" cy="1809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4AD4E6C-28B4-472B-64DA-BF66F9986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6185916"/>
            <a:ext cx="47244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Java Coding Solution (Part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1504950"/>
            <a:ext cx="4124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Urbanist"/>
              </a:rPr>
              <a:t>Inheritance: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Executive uses the </a:t>
            </a:r>
            <a:r>
              <a:rPr sz="1650" b="0" i="0" u="none">
                <a:solidFill>
                  <a:srgbClr val="F43F5E"/>
                </a:solidFill>
                <a:latin typeface="Urbanist"/>
              </a:rPr>
              <a:t>extends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keyword to inherit from the Student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403871"/>
            <a:ext cx="4124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Urbanist"/>
              </a:rPr>
              <a:t>Polymorphism: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The </a:t>
            </a:r>
            <a:r>
              <a:rPr sz="1650" b="0" i="0" u="none">
                <a:solidFill>
                  <a:srgbClr val="A855F7"/>
                </a:solidFill>
                <a:latin typeface="Urbanist"/>
              </a:rPr>
              <a:t>@Override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tag is used to change the behavior of the displayRole() method dynamically.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37954"/>
            <a:ext cx="4124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This maps directly to our UML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5975" y="1809750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18097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Executive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9975" y="18097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extends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1975" y="18097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6475" y="20383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20383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6475" y="24955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955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5725" y="24955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475" y="24955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1725" y="24955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975" y="2724150"/>
            <a:ext cx="476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super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2952750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475" y="36385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@Override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475" y="3867150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678DD"/>
                </a:solidFill>
                <a:latin typeface="Fira Code"/>
              </a:rPr>
              <a:t>public 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9475" y="3867150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displayRole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6975" y="409575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5C07B"/>
                </a:solidFill>
                <a:latin typeface="Fira Code"/>
              </a:rPr>
              <a:t>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725" y="4095750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1AFEF"/>
                </a:solidFill>
                <a:latin typeface="Fira Code"/>
              </a:rPr>
              <a:t>println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6725" y="4095750"/>
            <a:ext cx="1714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8C379"/>
                </a:solidFill>
                <a:latin typeface="Fira Code"/>
              </a:rPr>
              <a:t>"Executive Role: 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0477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2921"/>
            <a:ext cx="10477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57004"/>
            <a:ext cx="104775" cy="18097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881C0736-B759-3ED0-240F-DF8771866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6185916"/>
            <a:ext cx="47244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5600" y="2648991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Urbanist"/>
              </a:rPr>
              <a:t>Closing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53891"/>
            <a:ext cx="762000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We successfully demonstrated how a real-world University Club scenario can be efficiently represented using Object-Oriented classes, UML relationships, and Java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5770" y="5228183"/>
            <a:ext cx="368046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A855F7"/>
                </a:solidFill>
                <a:latin typeface="Urbanist"/>
              </a:rPr>
              <a:t>Thank You! Questions?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7" y="1296441"/>
            <a:ext cx="1190625" cy="95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7F378-50C0-EC4C-2DD2-90846A45EB57}"/>
              </a:ext>
            </a:extLst>
          </p:cNvPr>
          <p:cNvSpPr txBox="1"/>
          <p:nvPr/>
        </p:nvSpPr>
        <p:spPr>
          <a:xfrm>
            <a:off x="700088" y="287940"/>
            <a:ext cx="215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>
                <a:solidFill>
                  <a:srgbClr val="38BDF8"/>
                </a:solidFill>
              </a:rPr>
              <a:t>Group</a:t>
            </a:r>
            <a:r>
              <a:rPr lang="en-US" i="1" u="sng">
                <a:solidFill>
                  <a:srgbClr val="38BDF8"/>
                </a:solidFill>
              </a:rPr>
              <a:t>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Toukir Ahmed</dc:creator>
  <cp:keywords/>
  <dc:description>generated using python-pptx</dc:description>
  <cp:lastModifiedBy>Sadek Ahmed Raj</cp:lastModifiedBy>
  <cp:revision>81</cp:revision>
  <dcterms:created xsi:type="dcterms:W3CDTF">2013-01-27T09:14:16Z</dcterms:created>
  <dcterms:modified xsi:type="dcterms:W3CDTF">2026-08-10T16:53:50Z</dcterms:modified>
  <cp:category/>
</cp:coreProperties>
</file>